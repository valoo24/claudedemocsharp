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61" r:id="rId5"/>
    <p:sldId id="262" r:id="rId6"/>
    <p:sldId id="267" r:id="rId7"/>
    <p:sldId id="271" r:id="rId8"/>
    <p:sldId id="263" r:id="rId9"/>
    <p:sldId id="274" r:id="rId10"/>
    <p:sldId id="268" r:id="rId11"/>
    <p:sldId id="278" r:id="rId12"/>
    <p:sldId id="298" r:id="rId13"/>
    <p:sldId id="299" r:id="rId14"/>
    <p:sldId id="303" r:id="rId15"/>
    <p:sldId id="269" r:id="rId16"/>
    <p:sldId id="279" r:id="rId17"/>
    <p:sldId id="300" r:id="rId18"/>
    <p:sldId id="301" r:id="rId19"/>
    <p:sldId id="259" r:id="rId20"/>
    <p:sldId id="260" r:id="rId21"/>
    <p:sldId id="272" r:id="rId22"/>
    <p:sldId id="273" r:id="rId23"/>
    <p:sldId id="264" r:id="rId24"/>
    <p:sldId id="280" r:id="rId25"/>
    <p:sldId id="281" r:id="rId26"/>
    <p:sldId id="265" r:id="rId27"/>
    <p:sldId id="282" r:id="rId28"/>
    <p:sldId id="286" r:id="rId29"/>
    <p:sldId id="283" r:id="rId30"/>
    <p:sldId id="284" r:id="rId31"/>
    <p:sldId id="285" r:id="rId32"/>
    <p:sldId id="287" r:id="rId33"/>
    <p:sldId id="288" r:id="rId34"/>
    <p:sldId id="305" r:id="rId35"/>
    <p:sldId id="293" r:id="rId36"/>
    <p:sldId id="295" r:id="rId38"/>
    <p:sldId id="306" r:id="rId48"/>
    <p:sldId id="302" r:id="rId39"/>
    <p:sldId id="296" r:id="rId40"/>
    <p:sldId id="297" r:id="rId41"/>
    <p:sldId id="304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  <Relationship Id="rId48" Type="http://schemas.openxmlformats.org/officeDocument/2006/relationships/slide" Target="slides/slide4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625AF-1A89-4D3A-8115-A31FF7F30905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13C0B-23D1-4A97-9BD7-49FFA46F01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008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3C0B-23D1-4A97-9BD7-49FFA46F0128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79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3833A5-59D7-BA68-9BDB-6FCFAD11B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DCD24A-C7C7-EB57-34D0-C85CD46C4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BB113E-03F0-D02B-7E94-16496010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C288E8-68CA-87CD-396B-4CEF71E02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69C090-ECE3-44E2-487D-1820A451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4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67866-37F0-A771-E473-378D8A56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541291-E72B-93F5-114B-E0E0D1E34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48B388-8E89-D48A-2D2D-382DF88E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015BB0-168D-3742-5EC4-148E890A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24C96B-540E-BFBD-B21E-959E7474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168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67762-2803-618D-15AD-643A5397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0595F4-D30F-4AB3-959C-87901DEAC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5A2B6E-4967-DD62-77F8-F87DB7108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FE631C-8F10-AB3D-EC44-6153912E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6B9745-3320-18C6-5616-AA6059EB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68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14182E-DD5D-8189-F024-8F60CC04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C2F63D-B7CA-03D2-F6B9-2C9404A71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D680FDB-CE2A-A5C2-B093-BCBF9432C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A51138-8C99-DD9F-E93E-1D7185F1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591034-0F83-D6CF-4CC2-7EBC4BF7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71757B-8D92-CBBE-13EB-9DF6DA23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14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E0FFFA-A905-7348-8F57-5E4A9B98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80FAF2-46B8-59C4-7C34-327D28C57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4D0FC-9A3A-27A6-1CEB-691DD2982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AD450A-EB5B-CED4-D09C-EF1148011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EF93571-276B-AC45-3AEC-D192367C2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6C4D341-D4F6-9BD8-9775-D77D15D7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4591947-D25B-DF6C-84E3-E3BE4ECAB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087CFE1-6925-97BC-03C2-627130F5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345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F09D24-81D3-ABD7-A28F-76ABCD10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1802649-FCAD-EBE7-D7BD-1F48F41F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064571E-4BBB-1C3F-8AF6-ED08CE5B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4E012A-3B2F-1B55-C6B0-14C9A364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36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D77E89B-E616-20A4-5EBD-DEB0951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B214E1-0863-0FD1-A2FB-12D53FFDD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B34E85-D890-5E23-1421-93CAD0A3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761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06F62-B9D8-F03A-9B1C-13416DFC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12ABAB-09F0-E7CC-C866-CB5EA2F7E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B35343-F70A-289D-932D-B48A402EE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783FB9-8FA1-6240-457F-69D676CD4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851B45-F26A-795B-F2F2-1BBAA081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CC5295-700A-1E4A-E854-4B81B482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38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37570A-8CFD-6E14-43BE-5DC7E9D3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097B6CA-EC5F-7280-400D-910490D0A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29BAF20-FF62-8A0D-FF97-C0D7DA61F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77DB88-EA05-888F-6DA8-2E7BA779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D2EA98-AAF7-1FC2-5AC2-618A9D5E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485454-EED9-EEB3-E7C4-6C6BA9CA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713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2ABEEE-7D7E-BD87-89E3-24D98B2E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20EA7E-2A35-3BD5-DCA1-1E0304F44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E7E40A-F026-2416-546F-8A1ED64B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8D4AA3-AF9B-FF48-AB6B-7C7A4F17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B27C09-D7D7-9A14-A571-E8731E54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130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B7AFBC3-EC17-BBB1-29FC-425DABA58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491A9D-3385-5C83-53ED-29C932B84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B06A70-2E71-CB56-DEE8-700D85DC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99D17F-5D63-0D47-BFCD-2E2003AD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C753E0-6253-47D6-9330-A60281E4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05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4B57A05-AEE7-6175-4140-73EFED9E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18E1FB-A438-57B6-47BC-48D345B59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0069F4-D6F5-CAD4-0003-A6F2D41B8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953AA-06D8-429B-9476-2395F3FC727F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51C8EE-0563-8D0D-10D9-6D0D3552B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DF635A-021F-AB76-A657-7B856461D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EBF8B-C603-4F92-B1DB-CB1B09C722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78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image" Target="../media/code_mcp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
<Relationships xmlns="http://schemas.openxmlformats.org/package/2006/relationships"><Relationship Id="rId2" Type="http://schemas.openxmlformats.org/officeDocument/2006/relationships/image" Target="../media/image_batch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4931C3-28BB-48E9-11E4-1361388A9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5" r="9089" b="291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37FCC2-AAEF-FD53-1208-8CC87A9EF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fr-FR" sz="4800">
                <a:solidFill>
                  <a:schemeClr val="bg1"/>
                </a:solidFill>
              </a:rPr>
              <a:t>Claude API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331041-3656-C918-7AFA-C66786BE4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fr-FR" sz="2000">
                <a:solidFill>
                  <a:schemeClr val="bg1"/>
                </a:solidFill>
              </a:rPr>
              <a:t>How to integrate Claude in your applications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678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F432F1-64AD-EC12-FBD3-7961EAEE1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8" r="19540" b="1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52FD-658D-C04B-2F39-36D59DF69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First things first: Claude Console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BA4B7C-44CA-51C3-A418-3CA0F10AC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Claude Console is the main dashboard to manage your skills, your agents and, most importantly, your credits.</a:t>
            </a:r>
          </a:p>
          <a:p>
            <a:r>
              <a:rPr lang="en-US" sz="1700">
                <a:solidFill>
                  <a:schemeClr val="bg1"/>
                </a:solidFill>
              </a:rPr>
              <a:t>You can create and manage multiple workspaces.</a:t>
            </a:r>
          </a:p>
          <a:p>
            <a:r>
              <a:rPr lang="en-US" sz="1700">
                <a:solidFill>
                  <a:schemeClr val="bg1"/>
                </a:solidFill>
              </a:rPr>
              <a:t>You can also experiment with the integrated playground.</a:t>
            </a:r>
          </a:p>
          <a:p>
            <a:r>
              <a:rPr lang="en-US" sz="1700">
                <a:solidFill>
                  <a:schemeClr val="bg1"/>
                </a:solidFill>
              </a:rPr>
              <a:t>Note: registration is free, but you need to buy at least $5 of credits to actually use the API.</a:t>
            </a:r>
          </a:p>
        </p:txBody>
      </p:sp>
    </p:spTree>
    <p:extLst>
      <p:ext uri="{BB962C8B-B14F-4D97-AF65-F5344CB8AC3E}">
        <p14:creationId xmlns:p14="http://schemas.microsoft.com/office/powerpoint/2010/main" val="138753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F54ADE-E83A-9978-4D68-03FC3BAD6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" t="6593" r="37637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F2309A-6B7D-7C5C-B907-8E794526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fr-FR" sz="2800">
                <a:solidFill>
                  <a:schemeClr val="bg1"/>
                </a:solidFill>
              </a:rPr>
              <a:t>Admin view to manage your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40ED95-B3C8-8EC8-2F19-665D07CD3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Workspaces are managed within a single organization.</a:t>
            </a:r>
          </a:p>
          <a:p>
            <a:r>
              <a:rPr lang="en-US" sz="1400">
                <a:solidFill>
                  <a:schemeClr val="bg1"/>
                </a:solidFill>
              </a:rPr>
              <a:t>Credits are managed at organization level and consumed by one or more workspaces (spend limits can be set per workspace).</a:t>
            </a:r>
          </a:p>
          <a:p>
            <a:r>
              <a:rPr lang="en-US" sz="1400">
                <a:solidFill>
                  <a:schemeClr val="bg1"/>
                </a:solidFill>
              </a:rPr>
              <a:t>Several roles exist in the organization, such as Admin, Billing, Developer, Limited Developer, Claude Code User and User.</a:t>
            </a:r>
          </a:p>
          <a:p>
            <a:r>
              <a:rPr lang="en-US" sz="1400">
                <a:solidFill>
                  <a:schemeClr val="bg1"/>
                </a:solidFill>
              </a:rPr>
              <a:t>Enterprise plans also add Owner and Primary Owner roles, which can manage the Admins.</a:t>
            </a:r>
          </a:p>
        </p:txBody>
      </p:sp>
    </p:spTree>
    <p:extLst>
      <p:ext uri="{BB962C8B-B14F-4D97-AF65-F5344CB8AC3E}">
        <p14:creationId xmlns:p14="http://schemas.microsoft.com/office/powerpoint/2010/main" val="808694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85758C-70CD-4C14-6D0E-60C1DE22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4551036"/>
            <a:ext cx="4284420" cy="1687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Use the Anthropic SDK in .NET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E9E2CB0-9F53-C9C7-FA86-0F259CD26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839"/>
          <a:stretch>
            <a:fillRect/>
          </a:stretch>
        </p:blipFill>
        <p:spPr>
          <a:xfrm>
            <a:off x="1155556" y="637762"/>
            <a:ext cx="9889765" cy="357930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454411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BE985A8-7916-AE9F-61AB-774F2CE80EFB}"/>
              </a:ext>
            </a:extLst>
          </p:cNvPr>
          <p:cNvSpPr txBox="1"/>
          <p:nvPr/>
        </p:nvSpPr>
        <p:spPr>
          <a:xfrm>
            <a:off x="6734649" y="4750698"/>
            <a:ext cx="4310672" cy="1463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Or run: dotnet add package Anthropic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Only install the official Anthropic package (v10+). Packages such as Anthropic.SDK or tryAGI.Anthropic are maintained by third-party developers, not by Anthropic.</a:t>
            </a:r>
          </a:p>
        </p:txBody>
      </p:sp>
    </p:spTree>
    <p:extLst>
      <p:ext uri="{BB962C8B-B14F-4D97-AF65-F5344CB8AC3E}">
        <p14:creationId xmlns:p14="http://schemas.microsoft.com/office/powerpoint/2010/main" val="128711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D7B74E-7B67-0808-C95F-2146D096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Basic scenario: Simple message to Claude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08FA1E5-3826-FDB4-F1AA-C6357E016C61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 the </a:t>
            </a:r>
            <a:r>
              <a:rPr lang="en-US" dirty="0" err="1"/>
              <a:t>AnthropicClient</a:t>
            </a:r>
            <a:r>
              <a:rPr lang="en-US" dirty="0"/>
              <a:t> object.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 a MessageCreateParams object with all your parameters.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Available model families: Haiku, Sonnet, Opus and Fable (Mythos Preview is restricted to Project Glasswing partners).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Send the request to Claude.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is up to you to handle the content blocks as you like (here, only the text blocks are displayed).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2321467-2E25-0814-EB2C-58E98D161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517499"/>
            <a:ext cx="6440424" cy="37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5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C489F-4A85-E802-8C53-74EF55C5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fr-FR" sz="3200"/>
              <a:t>Multi-turn chat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01989F-597C-91E8-FC9C-8CD6A8C3D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54" y="805657"/>
            <a:ext cx="5881868" cy="5176044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F4FEEE-CD0B-9202-CD19-EFE617361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The API is stateless: Claude has no memory of the conversation, so you have to keep the history yourself.</a:t>
            </a:r>
          </a:p>
          <a:p>
            <a:r>
              <a:rPr lang="en-US" sz="2000"/>
              <a:t>Simply append Claude’s answer (then the next user message) to the list of MessageParams.</a:t>
            </a:r>
          </a:p>
        </p:txBody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2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7AE133-F849-F2AB-7A2E-4D4ECEAA6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/>
              <a:t>Prompt caching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8E7983-2370-653F-6582-170897270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600"/>
              <a:t>Sending the whole conversation to Claude with every request can quickly become expensive.</a:t>
            </a:r>
          </a:p>
          <a:p>
            <a:r>
              <a:rPr lang="en-US" sz="1600"/>
              <a:t>Minimum cacheable prompt: 1,024 tokens for Sonnet 5 and 4,096 for Haiku 4.5.</a:t>
            </a:r>
          </a:p>
          <a:p>
            <a:r>
              <a:rPr lang="en-US" sz="1600"/>
              <a:t>Enable caching with CacheControl: the API stores the prompt prefix and reuses it on the next requests (cache reads are ~90% cheaper). The cache is scoped to a workspace.</a:t>
            </a:r>
          </a:p>
          <a:p>
            <a:r>
              <a:rPr lang="en-US" sz="1600"/>
              <a:t>You can choose the cache lifetime (TTL): 5 minutes by default, or 1 hour (cache writes cost more).</a:t>
            </a:r>
          </a:p>
          <a:p>
            <a:r>
              <a:rPr lang="en-US" sz="1600"/>
              <a:t>Be careful with interpolated system prompts: the cache only matches an identical prefix, so a single change in the tools, the system prompt or the history invalidates it from that point on.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C3003A-F5C1-A6FC-3D35-FEE046984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723344"/>
            <a:ext cx="5150277" cy="123606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99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5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ED7B74E-7B67-0808-C95F-2146D096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What's the right strategy for MaxTokens?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BF2A717-9F0C-3D00-617F-CEAF2450F650}"/>
              </a:ext>
            </a:extLst>
          </p:cNvPr>
          <p:cNvSpPr txBox="1"/>
          <p:nvPr/>
        </p:nvSpPr>
        <p:spPr>
          <a:xfrm>
            <a:off x="786383" y="3566810"/>
            <a:ext cx="5692953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If response.StopReason == StopReason.MaxTokens, the answer was truncated because MaxTokens was too low.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267626"/>
              </p:ext>
            </p:extLst>
          </p:nvPr>
        </p:nvGraphicFramePr>
        <p:xfrm>
          <a:off x="6803647" y="1087438"/>
          <a:ext cx="4730216" cy="468312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48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508">
                <a:tc>
                  <a:txBody>
                    <a:bodyPr/>
                    <a:lstStyle/>
                    <a:p>
                      <a:pPr algn="l"/>
                      <a:r>
                        <a:rPr lang="fr-FR" sz="1800" b="1">
                          <a:solidFill>
                            <a:srgbClr val="FFFFFF"/>
                          </a:solidFill>
                          <a:latin typeface="Calibri"/>
                        </a:rPr>
                        <a:t>Response type</a:t>
                      </a:r>
                    </a:p>
                  </a:txBody>
                  <a:tcPr marL="122466" marR="122466" marT="61232" marB="61232" anchor="ctr">
                    <a:solidFill>
                      <a:srgbClr val="21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b="1">
                          <a:solidFill>
                            <a:srgbClr val="FFFFFF"/>
                          </a:solidFill>
                          <a:latin typeface="Calibri"/>
                        </a:rPr>
                        <a:t>Order of magnitude</a:t>
                      </a:r>
                    </a:p>
                  </a:txBody>
                  <a:tcPr marL="122466" marR="122466" marT="61232" marB="61232" anchor="ctr">
                    <a:solidFill>
                      <a:srgbClr val="21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22466" marR="122466" marT="61232" marB="61232" anchor="ctr">
                    <a:solidFill>
                      <a:srgbClr val="21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259"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202020"/>
                          </a:solidFill>
                          <a:latin typeface="Calibri"/>
                        </a:rPr>
                        <a:t>Short verdict, classification, yes/no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b="0">
                          <a:solidFill>
                            <a:srgbClr val="202020"/>
                          </a:solidFill>
                          <a:latin typeface="Calibri"/>
                        </a:rPr>
                        <a:t>256 - 512 tokens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b="0">
                          <a:solidFill>
                            <a:srgbClr val="202020"/>
                          </a:solidFill>
                          <a:latin typeface="Calibri"/>
                        </a:rPr>
                        <a:t>The verdict from expense-compliance-check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259">
                <a:tc>
                  <a:txBody>
                    <a:bodyPr/>
                    <a:lstStyle/>
                    <a:p>
                      <a:pPr algn="l"/>
                      <a:r>
                        <a:rPr lang="fr-FR" sz="1600" b="0">
                          <a:solidFill>
                            <a:srgbClr val="202020"/>
                          </a:solidFill>
                          <a:latin typeface="Calibri"/>
                        </a:rPr>
                        <a:t>Normal conversational reply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b="0">
                          <a:solidFill>
                            <a:srgbClr val="202020"/>
                          </a:solidFill>
                          <a:latin typeface="Calibri"/>
                        </a:rPr>
                        <a:t>512 - 2048 tokens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202020"/>
                          </a:solidFill>
                          <a:latin typeface="Calibri"/>
                        </a:rPr>
                        <a:t>The demo chat scenarios (1024)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7550">
                <a:tc>
                  <a:txBody>
                    <a:bodyPr/>
                    <a:lstStyle/>
                    <a:p>
                      <a:pPr algn="l"/>
                      <a:r>
                        <a:rPr lang="fr-FR" sz="1600" b="0">
                          <a:solidFill>
                            <a:srgbClr val="202020"/>
                          </a:solidFill>
                          <a:latin typeface="Calibri"/>
                        </a:rPr>
                        <a:t>Code generation, structured document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b="0">
                          <a:solidFill>
                            <a:srgbClr val="202020"/>
                          </a:solidFill>
                          <a:latin typeface="Calibri"/>
                        </a:rPr>
                        <a:t>2048-8192 tokens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b="0">
                          <a:solidFill>
                            <a:srgbClr val="202020"/>
                          </a:solidFill>
                          <a:latin typeface="Calibri"/>
                        </a:rPr>
                        <a:t>A full .cs file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7550"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202020"/>
                          </a:solidFill>
                          <a:latin typeface="Calibri"/>
                        </a:rPr>
                        <a:t>Long-form content (use streaming)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b="0">
                          <a:solidFill>
                            <a:srgbClr val="202020"/>
                          </a:solidFill>
                          <a:latin typeface="Calibri"/>
                        </a:rPr>
                        <a:t>8192+ tokens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b="0">
                          <a:solidFill>
                            <a:srgbClr val="202020"/>
                          </a:solidFill>
                          <a:latin typeface="Calibri"/>
                        </a:rPr>
                        <a:t>Report, Article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050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3011D3-AF97-C92A-56F0-1EE2B4DA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 dirty="0"/>
              <a:t>How to evaluate tokens?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97085C-20FE-63BF-B10B-1A3A54F9D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1600" dirty="0"/>
              <a:t>Use logging to get an overview of your prompts. The most valuable data are the input, the output and the token count.</a:t>
            </a:r>
          </a:p>
          <a:p>
            <a:r>
              <a:rPr lang="en-US" sz="1600" dirty="0"/>
              <a:t>Before sending: the free Count Tokens endpoint estimates how many input tokens a request will use.</a:t>
            </a:r>
          </a:p>
          <a:p>
            <a:r>
              <a:rPr lang="en-US" sz="1600" dirty="0"/>
              <a:t>Anthropic support will ask for the request-id: read it through WithRawResponse.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BBD8C8-508F-2260-9EE6-96A1C9834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808" y="741391"/>
            <a:ext cx="6067074" cy="538452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4289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D3F44A6-0FF3-A833-7930-21729C2F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fr-FR" sz="5400"/>
              <a:t>User prompt and System prompt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CFB98B-00EA-386F-D56D-6EA7FFEC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1900"/>
              <a:t>The user prompt is the input sent by the user at each turn (Role.User).</a:t>
            </a:r>
          </a:p>
          <a:p>
            <a:r>
              <a:rPr lang="en-US" sz="1900"/>
              <a:t>The system prompt (System parameter) is set at the start of the conversation: use it to define a persona, specifications or examples.</a:t>
            </a:r>
          </a:p>
          <a:p>
            <a:r>
              <a:rPr lang="en-US" sz="1900"/>
              <a:t>A Role.System message (mid-conversation system message) adds instructions while the conversation is running, e.g. to update the context. Not supported by Sonnet 5.</a:t>
            </a:r>
          </a:p>
          <a:p>
            <a:r>
              <a:rPr lang="en-US" sz="1900"/>
              <a:t>Changing the System parameter invalidates the cache; appending a Role.System message keeps the cached prefix.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B902284-C505-6A1A-7B0A-0035BA80F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00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3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211E8C-571B-6E28-926B-09F22813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fr-FR" sz="3200"/>
              <a:t>Assistant prefill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EE1FA6-56DE-2F62-D77D-49E38FBA5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83" y="805657"/>
            <a:ext cx="6001210" cy="5176044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AF42C7-7364-4870-8742-FB998A6E4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Claude continues its answer from the text you put in a final Assistant message.</a:t>
            </a:r>
          </a:p>
          <a:p>
            <a:r>
              <a:rPr lang="en-US" sz="2000"/>
              <a:t>Useful to force a specific output format such as XML or JSON. The prefill must not end with a trailing space or line break.</a:t>
            </a:r>
          </a:p>
          <a:p>
            <a:r>
              <a:rPr lang="en-US" sz="2000"/>
              <a:t>Not supported on Claude 4.6 and later models (400 error): use structured outputs or system prompt instructions instead.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9795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3689A8-2D2A-0C31-92A2-B72FABF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dirty="0"/>
              <a:t>Structured outputs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D6A8E-EA53-359D-726D-F4FCEA37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600" dirty="0"/>
              <a:t>The API constrains Claude’s answer to a JSON schema (constrained decoding): the response is always valid and parseable.</a:t>
            </a:r>
          </a:p>
          <a:p>
            <a:r>
              <a:rPr lang="en-US" sz="1600" dirty="0"/>
              <a:t>In C#: describe the output as a class with [SchemaProperty] attributes, call client.Messages.Create&lt;T&gt;() and read the typed object with Parsed().</a:t>
            </a:r>
          </a:p>
          <a:p>
            <a:r>
              <a:rPr lang="en-US" sz="1600" dirty="0"/>
              <a:t>For tools: add Strict = true to the tool definition to guarantee its input schema.</a:t>
            </a:r>
          </a:p>
          <a:p>
            <a:r>
              <a:rPr lang="en-US" sz="1600" dirty="0"/>
              <a:t>Generally available (no beta header) on all current models.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B866D9-5658-3860-8B15-6C5606BEA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311588"/>
            <a:ext cx="6440424" cy="417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5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ED7B74E-7B67-0808-C95F-2146D096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Structured outputs vs prefill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BF2A717-9F0C-3D00-617F-CEAF2450F650}"/>
              </a:ext>
            </a:extLst>
          </p:cNvPr>
          <p:cNvSpPr txBox="1"/>
          <p:nvPr/>
        </p:nvSpPr>
        <p:spPr>
          <a:xfrm>
            <a:off x="786383" y="3566810"/>
            <a:ext cx="5692953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The format is enforced by the API, not just suggested by the prompt.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Limits: slower first request (the schema is compiled, then cached 24 h), some JSON Schema keywords unsupported, incompatible with prefill and citations.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Still check StopReason: MaxTokens or Refusal can break the schema.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267626"/>
              </p:ext>
            </p:extLst>
          </p:nvPr>
        </p:nvGraphicFramePr>
        <p:xfrm>
          <a:off x="6803647" y="1087438"/>
          <a:ext cx="4730216" cy="468312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48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508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122466" marR="122466" marT="61232" marB="61232" anchor="ctr">
                    <a:solidFill>
                      <a:srgbClr val="21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</a:rPr>
                        <a:t>Prefill</a:t>
                      </a:r>
                    </a:p>
                  </a:txBody>
                  <a:tcPr marL="122466" marR="122466" marT="61232" marB="61232" anchor="ctr">
                    <a:solidFill>
                      <a:srgbClr val="21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</a:rPr>
                        <a:t>Structured outputs</a:t>
                      </a:r>
                    </a:p>
                  </a:txBody>
                  <a:tcPr marL="122466" marR="122466" marT="61232" marB="61232" anchor="ctr">
                    <a:solidFill>
                      <a:srgbClr val="21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259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Guarantee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A hint: Claude usually follows the format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Valid JSON matching the schema, always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259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Not supported on Claude 4.6 and later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All current models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755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In C#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Schema in the prompt, manual parsing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Create&lt;T&gt;() + Parsed(): typed object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755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Retries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Needed when the JSON is malformed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None for schema violations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050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F5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3F74A57-1F1E-9F0B-8247-69A0A5B2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Tools and MCP Servers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6119CD8-7493-382C-84A8-03AF2387B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206" y="961812"/>
            <a:ext cx="4930987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4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DD6F45-F88D-73A2-55B6-A551E4CC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 dirty="0" err="1"/>
              <a:t>Defining</a:t>
            </a:r>
            <a:r>
              <a:rPr lang="fr-FR" sz="3800" dirty="0"/>
              <a:t> a </a:t>
            </a:r>
            <a:r>
              <a:rPr lang="fr-FR" sz="3800" dirty="0" err="1"/>
              <a:t>tool</a:t>
            </a:r>
            <a:r>
              <a:rPr lang="fr-FR" sz="3800" dirty="0"/>
              <a:t> in </a:t>
            </a:r>
            <a:r>
              <a:rPr lang="fr-FR" sz="3800" dirty="0" err="1"/>
              <a:t>your</a:t>
            </a:r>
            <a:r>
              <a:rPr lang="fr-FR" sz="3800" dirty="0"/>
              <a:t> application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46F3A9-66CA-DAE2-C9D5-6DD3593D9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800"/>
              <a:t>Tool definitions are stable, but the ToolRunner helper is still in beta: use the Beta namespaces (Anthropic.Models.Beta.Messages and Anthropic.Helpers.Beta).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3ED8E2-079D-D13E-775C-2F37D4F5B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317" y="640080"/>
            <a:ext cx="599767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27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9BCD02-789D-D8C5-422A-F38C94372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/>
              <a:t>Using your tools in your application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3765C3-9948-7950-D633-619999A08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Wrap your message parameters in client.Beta.Messages.ToolRunner (beta), together with an array containing your tools.</a:t>
            </a:r>
          </a:p>
          <a:p>
            <a:r>
              <a:rPr lang="en-US" sz="2000" dirty="0"/>
              <a:t>The ToolRunner is designed to run your own (client-side) tools with the Claude API.</a:t>
            </a:r>
          </a:p>
          <a:p>
            <a:r>
              <a:rPr lang="en-US" sz="2000" dirty="0"/>
              <a:t>It handles the whole loop (request =&gt; tool_use =&gt; run the tool =&gt; tool_result =&gt; request…) until Claude has finished answering.</a:t>
            </a:r>
          </a:p>
          <a:p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FA0D56-64B0-1E14-5845-725D75DEE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478706"/>
            <a:ext cx="5150277" cy="172534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63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3689A8-2D2A-0C31-92A2-B72FABF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200" dirty="0"/>
              <a:t>What is an MCP server?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D6A8E-EA53-359D-726D-F4FCEA37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600" dirty="0"/>
              <a:t>MCP (Model Context Protocol) is an open standard, launched by Anthropic, to connect AI applications to tools and data.</a:t>
            </a:r>
          </a:p>
          <a:p>
            <a:r>
              <a:rPr lang="en-US" sz="1600" dirty="0"/>
              <a:t>Write a server once, reuse it in every MCP client: Claude Code, Claude apps, Managed Agents, your own apps.</a:t>
            </a:r>
          </a:p>
          <a:p>
            <a:r>
              <a:rPr lang="en-US" sz="1600" dirty="0"/>
              <a:t>A server exposes tools (actions), resources (data to read) and prompts (templates).</a:t>
            </a:r>
          </a:p>
          <a:p>
            <a:r>
              <a:rPr lang="en-US" sz="1600" dirty="0"/>
              <a:t>Two transports: stdio for a local server, Streamable HTTP for a remote one.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B866D9-5658-3860-8B15-6C5606BEA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377190"/>
            <a:ext cx="6440424" cy="40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3689A8-2D2A-0C31-92A2-B72FABF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000" dirty="0"/>
              <a:t>Build and connect an MCP server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D6A8E-EA53-359D-726D-F4FCEA37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600" dirty="0"/>
              <a:t>Build: the official .NET SDK (ModelContextProtocol) and the dotnet new mcpserver template let you create your own server.</a:t>
            </a:r>
          </a:p>
          <a:p>
            <a:r>
              <a:rPr lang="en-US" sz="1600" dirty="0"/>
              <a:t>Connect: the MCP connector (beta) lets the Messages endpoint call a remote server itself.</a:t>
            </a:r>
          </a:p>
          <a:p>
            <a:r>
              <a:rPr lang="en-US" sz="1600" dirty="0"/>
              <a:t>Connector limits: public HTTPS server only, tools only, no Zero Data Retention.</a:t>
            </a:r>
          </a:p>
          <a:p>
            <a:r>
              <a:rPr lang="en-US" sz="1600" dirty="0"/>
              <a:t>Local (stdio) or internal servers need an MCP client in your own application.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B866D9-5658-3860-8B15-6C5606BEA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892424"/>
            <a:ext cx="6440424" cy="301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165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B63A0D-B6DD-B239-6ECA-DD7EB73D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Manage your skills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E79C582-777A-664A-869F-0015AAA46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482957"/>
            <a:ext cx="7188199" cy="388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28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EE0F6E-459A-1283-CF32-DE2F86AE5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4048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D5B94A7-CF9A-DC35-2BC4-56C087A9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chemeClr val="tx2"/>
                </a:solidFill>
              </a:rPr>
              <a:t>Upload or update your skills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95AABA-E5CA-ED76-BADD-F7327B9C7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0247" y="4551037"/>
            <a:ext cx="4926411" cy="1509935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chemeClr val="tx2"/>
                </a:solidFill>
              </a:rPr>
              <a:t>Skills are managed at workspace level.</a:t>
            </a:r>
          </a:p>
          <a:p>
            <a:r>
              <a:rPr lang="en-US" sz="1500">
                <a:solidFill>
                  <a:schemeClr val="tx2"/>
                </a:solidFill>
              </a:rPr>
              <a:t>Every workspace comes with 4 pre-built Anthropic skills (pptx, xlsx, docx, pdf).</a:t>
            </a:r>
          </a:p>
          <a:p>
            <a:r>
              <a:rPr lang="en-US" sz="1500">
                <a:solidFill>
                  <a:schemeClr val="tx2"/>
                </a:solidFill>
              </a:rPr>
              <a:t>Every skill you upload gets an ID (skill_id) that you must reference in your code to use it.</a:t>
            </a:r>
          </a:p>
        </p:txBody>
      </p:sp>
    </p:spTree>
    <p:extLst>
      <p:ext uri="{BB962C8B-B14F-4D97-AF65-F5344CB8AC3E}">
        <p14:creationId xmlns:p14="http://schemas.microsoft.com/office/powerpoint/2010/main" val="1935618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6F55F-113F-5D6A-CA39-E0CD5F82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Skills</a:t>
            </a:r>
            <a:r>
              <a:rPr lang="fr-FR" dirty="0"/>
              <a:t> folder 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B14100-CA5E-BCA2-A95B-BFB841607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63" y="1920238"/>
            <a:ext cx="5061985" cy="4069081"/>
          </a:xfrm>
        </p:spPr>
        <p:txBody>
          <a:bodyPr/>
          <a:lstStyle/>
          <a:p>
            <a:r>
              <a:rPr lang="en-US" sz="1800" dirty="0"/>
              <a:t>A skill called through the API runs in Anthropic’s sandbox: scripts must run with Python, Bash or Node.js, with no network access or package installation.</a:t>
            </a:r>
          </a:p>
          <a:p>
            <a:r>
              <a:rPr lang="en-US" sz="1800" dirty="0"/>
              <a:t>The skill folder is read-only: Claude reads your files but writes its outputs elsewhere.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920240"/>
            <a:ext cx="3977639" cy="406908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6757416" y="2535428"/>
            <a:ext cx="0" cy="2614168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57416" y="2814828"/>
            <a:ext cx="274320" cy="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757416" y="3203956"/>
            <a:ext cx="274320" cy="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57416" y="4371340"/>
            <a:ext cx="274320" cy="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57416" y="5149596"/>
            <a:ext cx="274320" cy="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41464" y="3313684"/>
            <a:ext cx="0" cy="668528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41464" y="3593084"/>
            <a:ext cx="274320" cy="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41464" y="3982212"/>
            <a:ext cx="274320" cy="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41464" y="4481068"/>
            <a:ext cx="0" cy="27940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41464" y="4760468"/>
            <a:ext cx="274320" cy="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41464" y="5259324"/>
            <a:ext cx="0" cy="27940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41464" y="5538724"/>
            <a:ext cx="274320" cy="0"/>
          </a:xfrm>
          <a:prstGeom prst="line">
            <a:avLst/>
          </a:prstGeom>
          <a:ln w="1270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47688" y="2346695"/>
            <a:ext cx="219456" cy="158008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47688" y="2303682"/>
            <a:ext cx="120700" cy="61447"/>
          </a:xfrm>
          <a:prstGeom prst="roundRect">
            <a:avLst>
              <a:gd name="adj" fmla="val 35000"/>
            </a:avLst>
          </a:prstGeom>
          <a:solidFill>
            <a:srgbClr val="0E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2279396"/>
            <a:ext cx="32004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0E455C"/>
                </a:solidFill>
                <a:latin typeface="Courier New"/>
              </a:rPr>
              <a:t>my-skill/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9292" y="2688640"/>
            <a:ext cx="184343" cy="2523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79208" y="2668523"/>
            <a:ext cx="281635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E97132"/>
                </a:solidFill>
                <a:latin typeface="Courier New"/>
              </a:rPr>
              <a:t>SKILL.md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31736" y="3124951"/>
            <a:ext cx="219456" cy="158008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031736" y="3081938"/>
            <a:ext cx="120700" cy="61447"/>
          </a:xfrm>
          <a:prstGeom prst="roundRect">
            <a:avLst>
              <a:gd name="adj" fmla="val 35000"/>
            </a:avLst>
          </a:prstGeom>
          <a:solidFill>
            <a:srgbClr val="0E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79208" y="3057652"/>
            <a:ext cx="281635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0E455C"/>
                </a:solidFill>
                <a:latin typeface="Courier New"/>
              </a:rPr>
              <a:t>scripts/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33340" y="3466896"/>
            <a:ext cx="184343" cy="2523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63256" y="3446780"/>
            <a:ext cx="2432303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ourier New"/>
              </a:rPr>
              <a:t>setup.py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33340" y="3856024"/>
            <a:ext cx="184343" cy="2523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63256" y="3835908"/>
            <a:ext cx="2432303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ourier New"/>
              </a:rPr>
              <a:t>build.ts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31736" y="4292335"/>
            <a:ext cx="219456" cy="158008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031736" y="4249322"/>
            <a:ext cx="120700" cy="61447"/>
          </a:xfrm>
          <a:prstGeom prst="roundRect">
            <a:avLst>
              <a:gd name="adj" fmla="val 35000"/>
            </a:avLst>
          </a:prstGeom>
          <a:solidFill>
            <a:srgbClr val="0E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79208" y="4225036"/>
            <a:ext cx="281635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0E455C"/>
                </a:solidFill>
                <a:latin typeface="Courier New"/>
              </a:rPr>
              <a:t>references/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33340" y="4634280"/>
            <a:ext cx="184343" cy="2523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63256" y="4614164"/>
            <a:ext cx="2432303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ourier New"/>
              </a:rPr>
              <a:t>guide.md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31736" y="5070591"/>
            <a:ext cx="219456" cy="158008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031736" y="5027578"/>
            <a:ext cx="120700" cy="61447"/>
          </a:xfrm>
          <a:prstGeom prst="roundRect">
            <a:avLst>
              <a:gd name="adj" fmla="val 35000"/>
            </a:avLst>
          </a:prstGeom>
          <a:solidFill>
            <a:srgbClr val="0E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79208" y="5003292"/>
            <a:ext cx="281635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0E455C"/>
                </a:solidFill>
                <a:latin typeface="Courier New"/>
              </a:rPr>
              <a:t>assets/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33340" y="5412536"/>
            <a:ext cx="184343" cy="2523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63256" y="5392420"/>
            <a:ext cx="2432303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ourier New"/>
              </a:rPr>
              <a:t>template.pptx</a:t>
            </a:r>
          </a:p>
        </p:txBody>
      </p:sp>
    </p:spTree>
    <p:extLst>
      <p:ext uri="{BB962C8B-B14F-4D97-AF65-F5344CB8AC3E}">
        <p14:creationId xmlns:p14="http://schemas.microsoft.com/office/powerpoint/2010/main" val="2276274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05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429DAF-A064-EC43-BBDB-485A71590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to ensure better results with a skill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D489D9C-FDB7-B33D-6CA9-B5540D2B3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33" y="1170121"/>
            <a:ext cx="7347537" cy="45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33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845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E23DAE-37F1-B2AF-E055-D4F7A01E4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Manage your Agents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DFE7D0E-C989-40D9-A98D-7FA3C0B6B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09111"/>
            <a:ext cx="7188199" cy="463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310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C960A4-0574-74EB-2EC8-3BA85815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4200" dirty="0" err="1"/>
              <a:t>Create</a:t>
            </a:r>
            <a:r>
              <a:rPr lang="fr-FR" sz="4200" dirty="0"/>
              <a:t> an agent in Claude Console (</a:t>
            </a:r>
            <a:r>
              <a:rPr lang="fr-FR" sz="4200" dirty="0" err="1"/>
              <a:t>raw</a:t>
            </a:r>
            <a:r>
              <a:rPr lang="fr-FR" sz="4200" dirty="0"/>
              <a:t> </a:t>
            </a:r>
            <a:r>
              <a:rPr lang="fr-FR" sz="4200" dirty="0" err="1"/>
              <a:t>view</a:t>
            </a:r>
            <a:r>
              <a:rPr lang="fr-FR" sz="4200" dirty="0"/>
              <a:t>)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F780F5-A3E4-FEB4-5831-07ADC1292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Open the Agents menu under Managed Agents in the Claude Console.</a:t>
            </a:r>
          </a:p>
          <a:p>
            <a:r>
              <a:rPr lang="en-US" sz="2200" dirty="0"/>
              <a:t>Agents can be written in YAML or JSON, which makes import/export easy.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4226B15-1AE4-6899-E342-6F51756E2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" r="20952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55604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7AB28D-601F-3B7C-B50B-39F75434A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4200" dirty="0" err="1"/>
              <a:t>Create</a:t>
            </a:r>
            <a:r>
              <a:rPr lang="fr-FR" sz="4200" dirty="0"/>
              <a:t> an agent in Claude Console (</a:t>
            </a:r>
            <a:r>
              <a:rPr lang="fr-FR" sz="4200" dirty="0" err="1"/>
              <a:t>rendered</a:t>
            </a:r>
            <a:r>
              <a:rPr lang="fr-FR" sz="4200" dirty="0"/>
              <a:t> </a:t>
            </a:r>
            <a:r>
              <a:rPr lang="fr-FR" sz="4200" dirty="0" err="1"/>
              <a:t>view</a:t>
            </a:r>
            <a:r>
              <a:rPr lang="fr-FR" sz="4200" dirty="0"/>
              <a:t>)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718764-3E3D-85A3-12F4-1494CC310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You can toggle between the raw and rendered views.</a:t>
            </a:r>
          </a:p>
          <a:p>
            <a:r>
              <a:rPr lang="en-US" sz="2200" dirty="0"/>
              <a:t>Connect your agent to existing MCP servers or to your own tools.</a:t>
            </a:r>
          </a:p>
          <a:p>
            <a:r>
              <a:rPr lang="en-US" sz="2200" dirty="0"/>
              <a:t>Attach your custom skills to your agents.</a:t>
            </a:r>
          </a:p>
          <a:p>
            <a:r>
              <a:rPr lang="en-US" sz="2200" dirty="0"/>
              <a:t>Multi-agent support (subagents or an advisor).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5BC0EB5-F897-FF5E-088E-A33F263D5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7" r="1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60170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371916-8E70-085E-3681-18A4E5D5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4600"/>
              <a:t>Upload or update your agents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4C0F59-9A0A-7A77-753B-258CA3FC4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fr-FR" sz="2200" dirty="0"/>
              <a:t>Agents are </a:t>
            </a:r>
            <a:r>
              <a:rPr lang="fr-FR" sz="2200" dirty="0" err="1"/>
              <a:t>managed</a:t>
            </a:r>
            <a:r>
              <a:rPr lang="fr-FR" sz="2200" dirty="0"/>
              <a:t> at </a:t>
            </a:r>
            <a:r>
              <a:rPr lang="fr-FR" sz="2200" dirty="0" err="1"/>
              <a:t>workspace</a:t>
            </a:r>
            <a:r>
              <a:rPr lang="fr-FR" sz="2200" dirty="0"/>
              <a:t> </a:t>
            </a:r>
            <a:r>
              <a:rPr lang="fr-FR" sz="2200" dirty="0" err="1"/>
              <a:t>level</a:t>
            </a:r>
            <a:r>
              <a:rPr lang="fr-FR" sz="2200" dirty="0"/>
              <a:t>.</a:t>
            </a:r>
          </a:p>
          <a:p>
            <a:r>
              <a:rPr lang="en-US" sz="2200" dirty="0"/>
              <a:t>Select your agent to update it the same way you created it: each update creates a new version.</a:t>
            </a:r>
          </a:p>
          <a:p>
            <a:r>
              <a:rPr lang="en-US" sz="2200" dirty="0"/>
              <a:t>You can switch to the raw view of your agent if needed.</a:t>
            </a:r>
          </a:p>
          <a:p>
            <a:endParaRPr lang="fr-FR" sz="22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EB7DEC-65FC-5748-FE3B-D1CB2CE0E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2" r="505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75214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83BC15-0F0C-796B-55E3-997242D6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5400"/>
              <a:t>Create an environment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07A1F5-6AB2-B709-157F-2F53B5821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1900" dirty="0"/>
              <a:t>An environment is required to run an agent through the Claude API.</a:t>
            </a:r>
          </a:p>
          <a:p>
            <a:r>
              <a:rPr lang="en-US" sz="1900" dirty="0"/>
              <a:t>Several agents can run in the same environment.</a:t>
            </a:r>
          </a:p>
          <a:p>
            <a:r>
              <a:rPr lang="en-US" sz="1900" dirty="0"/>
              <a:t>The environment defines the network access, the packages installed in the sandbox and other metadata.</a:t>
            </a:r>
          </a:p>
          <a:p>
            <a:r>
              <a:rPr lang="en-US" sz="1900" dirty="0"/>
              <a:t>Cloud (Anthropic-managed sandbox) vs self-hosted (your own infrastructure).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A8A6A6-AE4F-A89B-B4E1-AC121ED2E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17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0870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933F8D2-2BBA-38FA-8F87-3025604F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Manage your agent’s memory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9C23CE8-C846-EAF7-225B-38862FA72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520764"/>
            <a:ext cx="6780700" cy="381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254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717CF2E-7231-347A-48DE-F8516C15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fr-FR"/>
              <a:t>Create a session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81710D-02A1-1DB6-4985-690A5B67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1700" dirty="0"/>
              <a:t>A session is a running instance of one agent in one environment, scoped to a workspace.</a:t>
            </a:r>
          </a:p>
          <a:p>
            <a:r>
              <a:rPr lang="en-US" sz="1700" dirty="0"/>
              <a:t>It must be created explicitly (API or Console) before sending any message.</a:t>
            </a:r>
          </a:p>
          <a:p>
            <a:r>
              <a:rPr lang="en-US" sz="1700" dirty="0"/>
              <a:t>It keeps the conversation history and can mount three kinds of resources: GitHub repositories, files or memory stores.</a:t>
            </a:r>
          </a:p>
          <a:p>
            <a:r>
              <a:rPr lang="en-US" sz="1700" dirty="0"/>
              <a:t>Creating a session in the Console is mostly useful for testing; in production, your application creates sessions through the API and attaches the memory store.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0D7FB8-F2F4-F87C-19FB-4F3C61C4B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7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2221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F6D602E-1109-5B6E-FA7F-9514AB7B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5400"/>
              <a:t>Create a memory store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D451C-EA5A-A286-B5B8-D35C40FE4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Memory stores are your agent’s long-term memory: text files mounted in the sandbox and read/written with the usual file tools.</a:t>
            </a:r>
          </a:p>
          <a:p>
            <a:r>
              <a:rPr lang="en-US" sz="2200" dirty="0"/>
              <a:t>Memory stores are workspace-scoped and can be shared across multiple sessions.</a:t>
            </a:r>
          </a:p>
          <a:p>
            <a:r>
              <a:rPr lang="en-US" sz="2200" dirty="0"/>
              <a:t>A session keeps the content of its own turns; a memory store keeps the useful information across sessions.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47D838-1100-FE9F-55A4-DE4026BCB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2" r="-2" b="4696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76380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8B6D9A-CD17-3536-6F5A-DE9D899A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fr-FR" sz="3400"/>
              <a:t>How to use your custom agent in your application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FBBB59-7B98-B205-6D3C-8C46A471D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500"/>
              <a:t>To use your agent in your application, you need to create a session that refers to your agent ID and your environment ID. A title is optional, but makes the session easy to find in the Claude Console.</a:t>
            </a:r>
          </a:p>
          <a:p>
            <a:r>
              <a:rPr lang="en-US" sz="1500"/>
              <a:t>Add your memory store as a resource, referenced by its ID (up to 8 stores per session).</a:t>
            </a:r>
          </a:p>
          <a:p>
            <a:r>
              <a:rPr lang="en-US" sz="1500"/>
              <a:t>Access can be ReadWrite (default) or ReadOnly.</a:t>
            </a:r>
          </a:p>
          <a:p>
            <a:r>
              <a:rPr lang="en-US" sz="1500"/>
              <a:t>Tell the agent what to save in memory with the Instructions parameter (max. 4,096 characters).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D18835-D560-B82A-E382-4D493895D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412843"/>
            <a:ext cx="6440424" cy="39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04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3689A8-2D2A-0C31-92A2-B72FABF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fr-FR" sz="3400" dirty="0"/>
              <a:t>How to </a:t>
            </a:r>
            <a:r>
              <a:rPr lang="fr-FR" sz="3400" dirty="0" err="1"/>
              <a:t>send</a:t>
            </a:r>
            <a:r>
              <a:rPr lang="fr-FR" sz="3400" dirty="0"/>
              <a:t> the </a:t>
            </a:r>
            <a:r>
              <a:rPr lang="fr-FR" sz="3400" dirty="0" err="1"/>
              <a:t>request</a:t>
            </a:r>
            <a:r>
              <a:rPr lang="fr-FR" sz="3400" dirty="0"/>
              <a:t> to </a:t>
            </a:r>
            <a:r>
              <a:rPr lang="fr-FR" sz="3400" dirty="0" err="1"/>
              <a:t>your</a:t>
            </a:r>
            <a:r>
              <a:rPr lang="fr-FR" sz="3400" dirty="0"/>
              <a:t> agent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D6A8E-EA53-359D-726D-F4FCEA37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dirty="0"/>
              <a:t>The SDK has no high-level chat helper for agents yet (beta), so you write a small service yourself: open the session’s event stream, then send a user.message event.</a:t>
            </a:r>
          </a:p>
          <a:p>
            <a:r>
              <a:rPr lang="en-US" sz="1800" dirty="0"/>
              <a:t>Anthropic runs the agent loop (tools, skills, subagents): your service only reads the events until the session is idle or terminated.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B866D9-5658-3860-8B15-6C5606BEA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058619"/>
            <a:ext cx="6440424" cy="468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FE8FA6-25D5-652F-436A-F7DCA1F6D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retrieve the final answer from your 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2B7264-D552-90CF-58B8-720E6EC65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 the text blocks of the agent.message events: the last agent.message of the turn is the final answer.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1BF7780-1463-D224-E0D4-8D3FDEF9D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1703099"/>
            <a:ext cx="6408836" cy="33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560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333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E63645-30ED-CC69-D7B7-FE036A7D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Multi-agent strategies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8C14259-25BD-94CE-FB68-306CF4302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917784"/>
            <a:ext cx="7188199" cy="301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4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3689A8-2D2A-0C31-92A2-B72FABF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000" dirty="0"/>
              <a:t>Multi-agent strategies: Advisor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D6A8E-EA53-359D-726D-F4FCEA37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600" dirty="0"/>
              <a:t>A fast, low-cost executor model (Haiku, Sonnet) consults a more capable advisor model (Opus, Fable) only when it needs guidance.</a:t>
            </a:r>
          </a:p>
          <a:p>
            <a:r>
              <a:rPr lang="en-US" sz="1600" dirty="0"/>
              <a:t>The advisor reads the full transcript and returns a plan or a course correction; it never calls tools itself.</a:t>
            </a:r>
          </a:p>
          <a:p>
            <a:r>
              <a:rPr lang="en-US" sz="1600" dirty="0"/>
              <a:t>Messages endpoint: advisor tool (beta). Managed Agents: one advisor entry in the coordinator’s roster.</a:t>
            </a:r>
          </a:p>
          <a:p>
            <a:r>
              <a:rPr lang="en-US" sz="1600" dirty="0"/>
              <a:t>Near-advisor quality, while most tokens are billed at the executor’s rates.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B866D9-5658-3860-8B15-6C5606BEA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524400"/>
            <a:ext cx="6440424" cy="375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3689A8-2D2A-0C31-92A2-B72FABF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000" dirty="0"/>
              <a:t>Multi-agent strategies: Subagent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D6A8E-EA53-359D-726D-F4FCEA37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600" dirty="0"/>
              <a:t>An orchestrator delegates narrow tasks to specialized subagents and stays in charge of the final answer.</a:t>
            </a:r>
          </a:p>
          <a:p>
            <a:r>
              <a:rPr lang="en-US" sz="1600" dirty="0"/>
              <a:t>Messages endpoint: each subagent is exposed as a tool (“agents as tools”) and run by the ToolRunner.</a:t>
            </a:r>
          </a:p>
          <a:p>
            <a:r>
              <a:rPr lang="en-US" sz="1600" dirty="0"/>
              <a:t>Each subagent has its own context, prompt and model: orchestrator on Sonnet, workers on Haiku.</a:t>
            </a:r>
          </a:p>
          <a:p>
            <a:r>
              <a:rPr lang="en-US" sz="1600" dirty="0"/>
              <a:t>Managed Agents: declare subagents in the coordinator’s roster (one level deep): your C# code does not change.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B866D9-5658-3860-8B15-6C5606BEA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211579"/>
            <a:ext cx="6440424" cy="437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5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ED7B74E-7B67-0808-C95F-2146D096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Batch API vs multi-agent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BF2A717-9F0C-3D00-617F-CEAF2450F650}"/>
              </a:ext>
            </a:extLst>
          </p:cNvPr>
          <p:cNvSpPr txBox="1"/>
          <p:nvPr/>
        </p:nvSpPr>
        <p:spPr>
          <a:xfrm>
            <a:off x="786383" y="3566810"/>
            <a:ext cx="5692953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Batch API: up to 100,000 requests (256 MB) per batch, each with its own custom_id. Results kept 29 days.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Almost everything works in a batch (tools, vision, prompt caching), except streaming.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They combine well: the non-urgent, independent calls of an agent workflow can run as a batch.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267626"/>
              </p:ext>
            </p:extLst>
          </p:nvPr>
        </p:nvGraphicFramePr>
        <p:xfrm>
          <a:off x="6803647" y="1087438"/>
          <a:ext cx="4730216" cy="478177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48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508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122466" marR="122466" marT="61232" marB="61232" anchor="ctr">
                    <a:solidFill>
                      <a:srgbClr val="21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</a:rPr>
                        <a:t>Batch API</a:t>
                      </a:r>
                    </a:p>
                  </a:txBody>
                  <a:tcPr marL="122466" marR="122466" marT="61232" marB="61232" anchor="ctr">
                    <a:solidFill>
                      <a:srgbClr val="21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</a:rPr>
                        <a:t>Multi-agent</a:t>
                      </a:r>
                    </a:p>
                  </a:txBody>
                  <a:tcPr marL="122466" marR="122466" marT="61232" marB="61232" anchor="ctr">
                    <a:solidFill>
                      <a:srgbClr val="21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259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Many independent requests, at lower cost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One task solved by collaborating agents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259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Asynchronous: most batches &lt; 1 h, max 24 h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Real time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755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−50% on every token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More tokens: one context per agent</a:t>
                      </a:r>
                    </a:p>
                  </a:txBody>
                  <a:tcPr marL="122466" marR="122466" marT="61232" marB="612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755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Coordination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None: requests never see each other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202020"/>
                          </a:solidFill>
                          <a:latin typeface="Calibri"/>
                        </a:rPr>
                        <a:t>Orchestrator, subagents or advisor</a:t>
                      </a:r>
                    </a:p>
                  </a:txBody>
                  <a:tcPr marL="122466" marR="122466" marT="61232" marB="61232" anchor="ctr">
                    <a:solidFill>
                      <a:srgbClr val="F2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0501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3689A8-2D2A-0C31-92A2-B72FABF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000" dirty="0"/>
              <a:t>Bonus: How to send an 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D6A8E-EA53-359D-726D-F4FCEA37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600" dirty="0"/>
              <a:t>Add an ImageBlockParam to the user message, placed before the text block.</a:t>
            </a:r>
          </a:p>
          <a:p>
            <a:r>
              <a:rPr lang="en-US" sz="1600" dirty="0"/>
              <a:t>Three sources: Base64 (local file), URL, or a Files endpoint file_id (upload once, reuse many times).</a:t>
            </a:r>
          </a:p>
          <a:p>
            <a:r>
              <a:rPr lang="en-US" sz="1600" dirty="0"/>
              <a:t>JPEG, PNG, GIF or WebP, up to 10 MB and 8000×8000 px per image.</a:t>
            </a:r>
          </a:p>
          <a:p>
            <a:r>
              <a:rPr lang="en-US" sz="1600" dirty="0"/>
              <a:t>The token cost grows with the resolution: resize large images before sending them.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B866D9-5658-3860-8B15-6C5606BEA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358789"/>
            <a:ext cx="6440424" cy="40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3689A8-2D2A-0C31-92A2-B72FABF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000" dirty="0"/>
              <a:t>Bonus: How to read a PDF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D6A8E-EA53-359D-726D-F4FCEA37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600" dirty="0"/>
              <a:t>Add a DocumentBlockParam before the text: URL, Base64 or Files endpoint source.</a:t>
            </a:r>
          </a:p>
          <a:p>
            <a:r>
              <a:rPr lang="en-US" sz="1600" dirty="0"/>
              <a:t>Claude reads both the extracted text and an image of each page: tables, charts and layout included.</a:t>
            </a:r>
          </a:p>
          <a:p>
            <a:r>
              <a:rPr lang="en-US" sz="1600" dirty="0"/>
              <a:t>Limits: 32 MB per request and 100 pages (600 on 1M-context models).</a:t>
            </a:r>
          </a:p>
          <a:p>
            <a:r>
              <a:rPr lang="en-US" sz="1600" dirty="0"/>
              <a:t>Each page costs text + image tokens: combine with prompt caching or batches for repeated or bulk analysis.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B866D9-5658-3860-8B15-6C5606BEA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211579"/>
            <a:ext cx="6440424" cy="437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33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0351E4-D7D6-A924-087B-5E2B157E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!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7E33B6F-DD4F-BB65-8A51-3AFE05A43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983318"/>
            <a:ext cx="7188199" cy="488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49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3689A8-2D2A-0C31-92A2-B72FABF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000" dirty="0"/>
              <a:t>Batch API: implementation in C#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D6A8E-EA53-359D-726D-F4FCEA37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600" dirty="0"/>
              <a:t>Each Request = a custom_id + the same Params as a regular Messages call.</a:t>
            </a:r>
          </a:p>
          <a:p>
            <a:r>
              <a:rPr lang="en-US" sz="1600" dirty="0"/>
              <a:t>Batches.Create() submits everything at once: keep the returned batch ID (file, database…).</a:t>
            </a:r>
          </a:p>
          <a:p>
            <a:r>
              <a:rPr lang="en-US" sz="1600" dirty="0"/>
              <a:t>Later, from any process using the same workspace: Retrieve(batchId) until the status is Ended.</a:t>
            </a:r>
          </a:p>
          <a:p>
            <a:r>
              <a:rPr lang="en-US" sz="1600" dirty="0"/>
              <a:t>ResultsStreaming() returns one result per custom_id: succeeded, errored, canceled or expired.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B866D9-5658-3860-8B15-6C5606BEA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568034"/>
            <a:ext cx="6440424" cy="366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6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2462</Words>
  <Application>Microsoft Office PowerPoint</Application>
  <PresentationFormat>Grand écran</PresentationFormat>
  <Paragraphs>203</Paragraphs>
  <Slides>41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Courier New</vt:lpstr>
      <vt:lpstr>Thème Office</vt:lpstr>
      <vt:lpstr>Claude API</vt:lpstr>
      <vt:lpstr>First things first: Claude Console</vt:lpstr>
      <vt:lpstr>Admin view to manage your organization</vt:lpstr>
      <vt:lpstr>Use the Anthropic SDK in .NET</vt:lpstr>
      <vt:lpstr>Basic scenario: Simple message to Claude</vt:lpstr>
      <vt:lpstr>Multi-turn chat</vt:lpstr>
      <vt:lpstr>Prompt caching</vt:lpstr>
      <vt:lpstr>What's the right strategy for MaxTokens?</vt:lpstr>
      <vt:lpstr>How to evaluate tokens?</vt:lpstr>
      <vt:lpstr>User prompt and System prompt</vt:lpstr>
      <vt:lpstr>Assistant prefill</vt:lpstr>
      <vt:lpstr>Structured outputs</vt:lpstr>
      <vt:lpstr>Structured outputs vs prefill</vt:lpstr>
      <vt:lpstr>Tools and MCP Servers</vt:lpstr>
      <vt:lpstr>Defining a tool in your application</vt:lpstr>
      <vt:lpstr>Using your tools in your application</vt:lpstr>
      <vt:lpstr>What is an MCP server?</vt:lpstr>
      <vt:lpstr>Build and connect an MCP server</vt:lpstr>
      <vt:lpstr>Manage your skills</vt:lpstr>
      <vt:lpstr>Upload or update your skills</vt:lpstr>
      <vt:lpstr>Skills folder structure</vt:lpstr>
      <vt:lpstr>How to ensure better results with a skill</vt:lpstr>
      <vt:lpstr>Manage your Agents</vt:lpstr>
      <vt:lpstr>Create an agent in Claude Console (raw view)</vt:lpstr>
      <vt:lpstr>Create an agent in Claude Console (rendered view)</vt:lpstr>
      <vt:lpstr>Upload or update your agents</vt:lpstr>
      <vt:lpstr>Create an environment</vt:lpstr>
      <vt:lpstr>Manage your agent’s memory</vt:lpstr>
      <vt:lpstr>Create a session</vt:lpstr>
      <vt:lpstr>Create a memory store</vt:lpstr>
      <vt:lpstr>How to use your custom agent in your application</vt:lpstr>
      <vt:lpstr>How to send the request to your agent</vt:lpstr>
      <vt:lpstr>How to retrieve the final answer from your agent</vt:lpstr>
      <vt:lpstr>Multi-agent strategies</vt:lpstr>
      <vt:lpstr>Multi-agent strategies: Advisor</vt:lpstr>
      <vt:lpstr>Multi-agent strategies: Fan-out / Fan-in</vt:lpstr>
      <vt:lpstr>Multi-agent strategies: Subagent</vt:lpstr>
      <vt:lpstr>Batch API vs multi-agent</vt:lpstr>
      <vt:lpstr>Bonus: How to send an image</vt:lpstr>
      <vt:lpstr>Bonus: How to read a PDF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Malemprée</dc:creator>
  <cp:lastModifiedBy>Benjamin Malemprée</cp:lastModifiedBy>
  <cp:revision>27</cp:revision>
  <dcterms:created xsi:type="dcterms:W3CDTF">2026-09-24T13:38:32Z</dcterms:created>
  <dcterms:modified xsi:type="dcterms:W3CDTF">2026-09-29T13:14:11Z</dcterms:modified>
</cp:coreProperties>
</file>